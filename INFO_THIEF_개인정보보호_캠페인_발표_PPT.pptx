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325880"/>
            <a:ext cx="73152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600" b="1">
                <a:solidFill>
                  <a:srgbClr val="F5F5F5"/>
                </a:solidFill>
                <a:latin typeface="Pretendard"/>
              </a:rPr>
              <a:t>INFO THIEF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40280"/>
            <a:ext cx="6858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DC2337"/>
                </a:solidFill>
                <a:latin typeface="Pretendard"/>
              </a:rPr>
              <a:t>누군가 내 정보를 훔쳐보고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5943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AAAAAF"/>
                </a:solidFill>
                <a:latin typeface="Pretendard"/>
              </a:rPr>
              <a:t>개인정보 보호 캠페인 웹사이트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3474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 dirty="0">
                <a:solidFill>
                  <a:srgbClr val="AAAAAF"/>
                </a:solidFill>
                <a:latin typeface="Pretendard"/>
              </a:rPr>
              <a:t>2026.10.06 — 2026.10.08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0"/>
            <a:ext cx="2953512" cy="6858000"/>
          </a:xfrm>
          <a:prstGeom prst="rect">
            <a:avLst/>
          </a:prstGeom>
          <a:solidFill>
            <a:srgbClr val="55121C"/>
          </a:solidFill>
          <a:ln>
            <a:solidFill>
              <a:srgbClr val="55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46920" y="2057400"/>
            <a:ext cx="2011680" cy="1645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100" b="1">
                <a:solidFill>
                  <a:srgbClr val="F5F5F5"/>
                </a:solidFill>
                <a:latin typeface="Pretendard"/>
              </a:rPr>
              <a:t>INFO
THIEF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25E5E3-2C4A-4A2E-984D-B1E371819A72}"/>
              </a:ext>
            </a:extLst>
          </p:cNvPr>
          <p:cNvSpPr txBox="1"/>
          <p:nvPr/>
        </p:nvSpPr>
        <p:spPr>
          <a:xfrm>
            <a:off x="731520" y="5669280"/>
            <a:ext cx="64633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ko-KR" altLang="en-US" sz="1200" b="0" dirty="0">
                <a:solidFill>
                  <a:srgbClr val="AAAAAF"/>
                </a:solidFill>
                <a:latin typeface="Pretendard"/>
              </a:rPr>
              <a:t>김세아</a:t>
            </a:r>
            <a:endParaRPr sz="1200" b="0" dirty="0">
              <a:solidFill>
                <a:srgbClr val="AAAAA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640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80467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5F5"/>
                </a:solidFill>
                <a:latin typeface="Pretendard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875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AAAF"/>
                </a:solidFill>
                <a:latin typeface="Pretendard"/>
              </a:rPr>
              <a:t>프로젝트 기본 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972800" cy="13716"/>
          </a:xfrm>
          <a:prstGeom prst="rect">
            <a:avLst/>
          </a:prstGeom>
          <a:solidFill>
            <a:srgbClr val="37373D"/>
          </a:solidFill>
          <a:ln>
            <a:solidFill>
              <a:srgbClr val="37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03520" cy="14173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4864" cy="14173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48463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10 ~ 20대
일상에서 개인정보를 자주 노출하는 사용자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03520" cy="14173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54864" cy="14173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846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50008"/>
            <a:ext cx="48463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일상에서 무심코 노출되는 개인정보
개인정보 보호의 중요성 전달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5303520" cy="14173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54864" cy="14173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474720"/>
            <a:ext cx="4846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MOOD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95928"/>
            <a:ext cx="48463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Dark + Security + Character
보안과 위험성을 시각적으로 표현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303520" cy="14173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246120"/>
            <a:ext cx="54864" cy="14173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20"/>
            <a:ext cx="4846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TECH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95928"/>
            <a:ext cx="48463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HTML + CSS + JavaScript
웹 구조 / 디자인 / 인터랙션 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57800"/>
            <a:ext cx="1188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핵심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230368"/>
            <a:ext cx="93268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Pretendard"/>
              </a:rPr>
              <a:t>개인정보 노출 사례  ·  상황 체험  ·  개인정보 보호 테스트  ·  TIP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640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80467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5F5"/>
                </a:solidFill>
                <a:latin typeface="Pretendard"/>
              </a:rPr>
              <a:t>PROJECT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875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AAAF"/>
                </a:solidFill>
                <a:latin typeface="Pretendard"/>
              </a:rPr>
              <a:t>왜 개인정보 보호 캠페인을 만들었는가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972800" cy="13716"/>
          </a:xfrm>
          <a:prstGeom prst="rect">
            <a:avLst/>
          </a:prstGeom>
          <a:solidFill>
            <a:srgbClr val="37373D"/>
          </a:solidFill>
          <a:ln>
            <a:solidFill>
              <a:srgbClr val="37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5F5"/>
                </a:solidFill>
                <a:latin typeface="Pretendard"/>
              </a:rPr>
              <a:t>“개인정보 보호가 중요하다는 사실을 아는 것”에서
“내가 실제로 어떻게 행동하고 있는지 확인하는 것”으로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3429000" cy="19659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54864" cy="196596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01  인식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95928"/>
            <a:ext cx="2971800" cy="100583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일상에서 무심코 공개하는
개인정보 상황을 보여준다.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46120"/>
            <a:ext cx="3429000" cy="19659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3246120"/>
            <a:ext cx="54864" cy="196596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474720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02  체험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995928"/>
            <a:ext cx="2971800" cy="100583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테스트와 상황 콘텐츠를 통해
사용자가 직접 확인하도록 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246120"/>
            <a:ext cx="3429000" cy="19659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3246120"/>
            <a:ext cx="54864" cy="196596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3474720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03  실천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995928"/>
            <a:ext cx="2971800" cy="100583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개인정보를 지키기 위한
구체적인 TIP을 제공한다.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640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80467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5F5"/>
                </a:solidFill>
                <a:latin typeface="Pretendard"/>
              </a:rPr>
              <a:t>DESIGN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875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AAAF"/>
                </a:solidFill>
                <a:latin typeface="Pretendard"/>
              </a:rPr>
              <a:t>Figma에서 설정한 시각적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972800" cy="13716"/>
          </a:xfrm>
          <a:prstGeom prst="rect">
            <a:avLst/>
          </a:prstGeom>
          <a:solidFill>
            <a:srgbClr val="37373D"/>
          </a:solidFill>
          <a:ln>
            <a:solidFill>
              <a:srgbClr val="37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743200" cy="3566160"/>
          </a:xfrm>
          <a:prstGeom prst="roundRect">
            <a:avLst/>
          </a:prstGeom>
          <a:solidFill>
            <a:srgbClr val="050506"/>
          </a:solidFill>
          <a:ln>
            <a:solidFill>
              <a:srgbClr val="37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sz="1500" b="1" dirty="0">
                <a:solidFill>
                  <a:schemeClr val="bg1">
                    <a:lumMod val="65000"/>
                  </a:schemeClr>
                </a:solidFill>
              </a:rPr>
              <a:t>#</a:t>
            </a:r>
            <a:r>
              <a:rPr lang="en-US" altLang="ko-KR" sz="1500" b="0" dirty="0">
                <a:solidFill>
                  <a:schemeClr val="bg1">
                    <a:lumMod val="65000"/>
                  </a:schemeClr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08090b</a:t>
            </a:r>
          </a:p>
          <a:p>
            <a:pPr algn="ctr"/>
            <a:endParaRPr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  <a:latin typeface="Pretendard"/>
              </a:rPr>
              <a:t>BLACK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1945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0">
                <a:solidFill>
                  <a:srgbClr val="AAAAAF"/>
                </a:solidFill>
                <a:latin typeface="Pretendard"/>
              </a:rPr>
              <a:t>기본 배경
보안·긴장감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600200"/>
            <a:ext cx="2743200" cy="3566160"/>
          </a:xfrm>
          <a:prstGeom prst="round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sz="1500" b="1" dirty="0">
                <a:solidFill>
                  <a:schemeClr val="bg1">
                    <a:lumMod val="65000"/>
                  </a:schemeClr>
                </a:solidFill>
              </a:rPr>
              <a:t>#</a:t>
            </a:r>
            <a:r>
              <a:rPr lang="en-US" altLang="ko-KR" sz="1500" b="0" dirty="0">
                <a:solidFill>
                  <a:schemeClr val="bg1">
                    <a:lumMod val="65000"/>
                  </a:schemeClr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E7E8EA</a:t>
            </a:r>
          </a:p>
          <a:p>
            <a:pPr algn="ctr"/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160520" y="2148840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0C0C0E"/>
                </a:solidFill>
                <a:latin typeface="Pretendard"/>
              </a:rPr>
              <a:t>WHITE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788920"/>
            <a:ext cx="21945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0" dirty="0" err="1">
                <a:solidFill>
                  <a:srgbClr val="505055"/>
                </a:solidFill>
                <a:latin typeface="Pretendard"/>
              </a:rPr>
              <a:t>본문·정보</a:t>
            </a:r>
            <a:r>
              <a:rPr sz="1300" b="0" dirty="0">
                <a:solidFill>
                  <a:srgbClr val="505055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505055"/>
                </a:solidFill>
                <a:latin typeface="Pretendard"/>
              </a:rPr>
              <a:t>전달</a:t>
            </a:r>
            <a:r>
              <a:rPr sz="1300" b="0" dirty="0">
                <a:solidFill>
                  <a:srgbClr val="505055"/>
                </a:solidFill>
                <a:latin typeface="Pretendard"/>
              </a:rPr>
              <a:t>
</a:t>
            </a:r>
            <a:r>
              <a:rPr sz="1300" b="0" dirty="0" err="1">
                <a:solidFill>
                  <a:srgbClr val="505055"/>
                </a:solidFill>
                <a:latin typeface="Pretendard"/>
              </a:rPr>
              <a:t>높은</a:t>
            </a:r>
            <a:r>
              <a:rPr sz="1300" b="0" dirty="0">
                <a:solidFill>
                  <a:srgbClr val="505055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505055"/>
                </a:solidFill>
                <a:latin typeface="Pretendard"/>
              </a:rPr>
              <a:t>가독성</a:t>
            </a:r>
            <a:endParaRPr sz="1300" b="0" dirty="0">
              <a:solidFill>
                <a:srgbClr val="505055"/>
              </a:solidFill>
              <a:latin typeface="Pretendar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040880" y="1600200"/>
            <a:ext cx="2743200" cy="3566160"/>
          </a:xfrm>
          <a:prstGeom prst="round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sz="1500" b="1" dirty="0">
                <a:solidFill>
                  <a:schemeClr val="bg1">
                    <a:lumMod val="65000"/>
                  </a:schemeClr>
                </a:solidFill>
              </a:rPr>
              <a:t>#</a:t>
            </a:r>
            <a:r>
              <a:rPr lang="en-US" altLang="ko-KR" sz="1500" b="0" dirty="0">
                <a:solidFill>
                  <a:schemeClr val="bg1">
                    <a:lumMod val="65000"/>
                  </a:schemeClr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FC4A52</a:t>
            </a:r>
          </a:p>
          <a:p>
            <a:pPr algn="ctr"/>
            <a:endParaRPr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315200" y="2148840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  <a:latin typeface="Pretendard"/>
              </a:rP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788920"/>
            <a:ext cx="21945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0">
                <a:solidFill>
                  <a:srgbClr val="F5F5F5"/>
                </a:solidFill>
                <a:latin typeface="Pretendard"/>
              </a:rPr>
              <a:t>포인트 컬러
위험·경고 강조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783080"/>
            <a:ext cx="1371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DC2337"/>
                </a:solidFill>
                <a:latin typeface="Pretendard"/>
              </a:rPr>
              <a:t>디자인 키워드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194560"/>
            <a:ext cx="1645920" cy="1645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Pretendard"/>
              </a:rPr>
              <a:t>DARK
SECURITY
CHARACTER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640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80467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 dirty="0">
                <a:solidFill>
                  <a:srgbClr val="F5F5F5"/>
                </a:solidFill>
                <a:latin typeface="Pretendard"/>
              </a:rPr>
              <a:t>PAGE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875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AAAF"/>
                </a:solidFill>
                <a:latin typeface="Pretendard"/>
              </a:rPr>
              <a:t>공통 Header / Footer를 중심으로 6개 페이지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972800" cy="13716"/>
          </a:xfrm>
          <a:prstGeom prst="rect">
            <a:avLst/>
          </a:prstGeom>
          <a:solidFill>
            <a:srgbClr val="37373D"/>
          </a:solidFill>
          <a:ln>
            <a:solidFill>
              <a:srgbClr val="37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29000" cy="15087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4864" cy="150876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 dirty="0">
                <a:solidFill>
                  <a:srgbClr val="F5F5F5"/>
                </a:solidFill>
                <a:latin typeface="Pretendard"/>
              </a:rPr>
              <a:t>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2971800" cy="54863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 err="1">
                <a:solidFill>
                  <a:srgbClr val="AAAAAF"/>
                </a:solidFill>
                <a:latin typeface="Pretendard"/>
              </a:rPr>
              <a:t>캠페인</a:t>
            </a:r>
            <a:r>
              <a:rPr sz="1250" b="0" dirty="0">
                <a:solidFill>
                  <a:srgbClr val="AAAAAF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AAAAAF"/>
                </a:solidFill>
                <a:latin typeface="Pretendard"/>
              </a:rPr>
              <a:t>소개</a:t>
            </a:r>
            <a:r>
              <a:rPr sz="1250" b="0" dirty="0">
                <a:solidFill>
                  <a:srgbClr val="AAAAAF"/>
                </a:solidFill>
                <a:latin typeface="Pretendard"/>
              </a:rPr>
              <a:t>
</a:t>
            </a:r>
            <a:r>
              <a:rPr sz="1250" b="0" dirty="0" err="1">
                <a:solidFill>
                  <a:srgbClr val="AAAAAF"/>
                </a:solidFill>
                <a:latin typeface="Pretendard"/>
              </a:rPr>
              <a:t>핵심</a:t>
            </a:r>
            <a:r>
              <a:rPr sz="1250" b="0" dirty="0">
                <a:solidFill>
                  <a:srgbClr val="AAAAAF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AAAAAF"/>
                </a:solidFill>
                <a:latin typeface="Pretendard"/>
              </a:rPr>
              <a:t>메시지</a:t>
            </a:r>
            <a:endParaRPr sz="1250" b="0" dirty="0">
              <a:solidFill>
                <a:srgbClr val="AAAAAF"/>
              </a:solidFill>
              <a:latin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429000" cy="15087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54864" cy="150876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922047" cy="3539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700" b="1" dirty="0">
                <a:solidFill>
                  <a:srgbClr val="F5F5F5"/>
                </a:solidFill>
                <a:latin typeface="Pretendard"/>
              </a:rPr>
              <a:t>ABOUT</a:t>
            </a:r>
            <a:endParaRPr sz="1700" b="1" dirty="0">
              <a:solidFill>
                <a:srgbClr val="F5F5F5"/>
              </a:solidFill>
              <a:latin typeface="Pretendard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0" y="1600200"/>
            <a:ext cx="3429000" cy="15087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600200"/>
            <a:ext cx="54864" cy="150876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828800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0008"/>
            <a:ext cx="2971800" cy="54863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 err="1">
                <a:solidFill>
                  <a:srgbClr val="AAAAAF"/>
                </a:solidFill>
                <a:latin typeface="Pretendard"/>
              </a:rPr>
              <a:t>개인정보</a:t>
            </a:r>
            <a:r>
              <a:rPr sz="1250" b="0" dirty="0">
                <a:solidFill>
                  <a:srgbClr val="AAAAAF"/>
                </a:solidFill>
                <a:latin typeface="Pretendard"/>
              </a:rPr>
              <a:t>
</a:t>
            </a:r>
            <a:r>
              <a:rPr sz="1250" b="0" dirty="0" err="1">
                <a:solidFill>
                  <a:srgbClr val="AAAAAF"/>
                </a:solidFill>
                <a:latin typeface="Pretendard"/>
              </a:rPr>
              <a:t>노출</a:t>
            </a:r>
            <a:r>
              <a:rPr sz="1250" b="0" dirty="0">
                <a:solidFill>
                  <a:srgbClr val="AAAAAF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AAAAAF"/>
                </a:solidFill>
                <a:latin typeface="Pretendard"/>
              </a:rPr>
              <a:t>사례</a:t>
            </a:r>
            <a:endParaRPr sz="1250" b="0" dirty="0">
              <a:solidFill>
                <a:srgbClr val="AAAAAF"/>
              </a:solidFill>
              <a:latin typeface="Pretendar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236357"/>
            <a:ext cx="3429000" cy="15087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236357"/>
            <a:ext cx="54864" cy="150876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464956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 dirty="0">
                <a:solidFill>
                  <a:srgbClr val="F5F5F5"/>
                </a:solidFill>
                <a:latin typeface="Pretendard"/>
              </a:rPr>
              <a:t>TIP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86165"/>
            <a:ext cx="2971800" cy="54863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개인정보
보호 방법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236357"/>
            <a:ext cx="3429000" cy="15087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236357"/>
            <a:ext cx="54864" cy="150876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464956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CAMPAIGN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986165"/>
            <a:ext cx="2971800" cy="54863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캠페인
콘텐츠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236357"/>
            <a:ext cx="3429000" cy="15087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236357"/>
            <a:ext cx="54864" cy="150876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09B5B92A-D360-465B-AC1B-9CA569FE6A5F}"/>
              </a:ext>
            </a:extLst>
          </p:cNvPr>
          <p:cNvSpPr/>
          <p:nvPr/>
        </p:nvSpPr>
        <p:spPr>
          <a:xfrm>
            <a:off x="667512" y="4869180"/>
            <a:ext cx="3429000" cy="15087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Rectangle 18">
            <a:extLst>
              <a:ext uri="{FF2B5EF4-FFF2-40B4-BE49-F238E27FC236}">
                <a16:creationId xmlns:a16="http://schemas.microsoft.com/office/drawing/2014/main" id="{5C5A526A-8BE5-4D6A-9698-F6089FA6F310}"/>
              </a:ext>
            </a:extLst>
          </p:cNvPr>
          <p:cNvSpPr/>
          <p:nvPr/>
        </p:nvSpPr>
        <p:spPr>
          <a:xfrm>
            <a:off x="640080" y="4869180"/>
            <a:ext cx="54864" cy="150876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76D178-807F-4095-A8CF-C0CAE3F8E392}"/>
              </a:ext>
            </a:extLst>
          </p:cNvPr>
          <p:cNvSpPr txBox="1"/>
          <p:nvPr/>
        </p:nvSpPr>
        <p:spPr>
          <a:xfrm>
            <a:off x="834279" y="5102351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 dirty="0">
                <a:solidFill>
                  <a:srgbClr val="F5F5F5"/>
                </a:solidFill>
                <a:latin typeface="Pretendard"/>
              </a:rPr>
              <a:t>RESULT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98EDD2-9A55-442C-BCC4-BAB02A3CE6A0}"/>
              </a:ext>
            </a:extLst>
          </p:cNvPr>
          <p:cNvSpPr txBox="1"/>
          <p:nvPr/>
        </p:nvSpPr>
        <p:spPr>
          <a:xfrm>
            <a:off x="834279" y="5623560"/>
            <a:ext cx="2971800" cy="54863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테스트 결과
확인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02CA8B-7AB1-40E3-9949-337BC5511FF2}"/>
              </a:ext>
            </a:extLst>
          </p:cNvPr>
          <p:cNvSpPr txBox="1"/>
          <p:nvPr/>
        </p:nvSpPr>
        <p:spPr>
          <a:xfrm>
            <a:off x="8485632" y="3464957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 dirty="0">
                <a:solidFill>
                  <a:srgbClr val="F5F5F5"/>
                </a:solidFill>
                <a:latin typeface="Pretendard"/>
              </a:rPr>
              <a:t>CHECK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9F57FA-BDB8-4F5A-BDE6-6EA9653145A6}"/>
              </a:ext>
            </a:extLst>
          </p:cNvPr>
          <p:cNvSpPr txBox="1"/>
          <p:nvPr/>
        </p:nvSpPr>
        <p:spPr>
          <a:xfrm>
            <a:off x="8485632" y="3986165"/>
            <a:ext cx="2971800" cy="54863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 err="1">
                <a:solidFill>
                  <a:srgbClr val="AAAAAF"/>
                </a:solidFill>
                <a:latin typeface="Pretendard"/>
              </a:rPr>
              <a:t>개인정보</a:t>
            </a:r>
            <a:r>
              <a:rPr sz="1250" b="0" dirty="0">
                <a:solidFill>
                  <a:srgbClr val="AAAAAF"/>
                </a:solidFill>
                <a:latin typeface="Pretendard"/>
              </a:rPr>
              <a:t> </a:t>
            </a:r>
            <a:r>
              <a:rPr sz="1250" b="0" dirty="0" err="1">
                <a:solidFill>
                  <a:srgbClr val="AAAAAF"/>
                </a:solidFill>
                <a:latin typeface="Pretendard"/>
              </a:rPr>
              <a:t>보호</a:t>
            </a:r>
            <a:r>
              <a:rPr sz="1250" b="0" dirty="0">
                <a:solidFill>
                  <a:srgbClr val="AAAAAF"/>
                </a:solidFill>
                <a:latin typeface="Pretendard"/>
              </a:rPr>
              <a:t>
</a:t>
            </a:r>
            <a:r>
              <a:rPr sz="1250" b="0" dirty="0" err="1">
                <a:solidFill>
                  <a:srgbClr val="AAAAAF"/>
                </a:solidFill>
                <a:latin typeface="Pretendard"/>
              </a:rPr>
              <a:t>테스트</a:t>
            </a:r>
            <a:endParaRPr sz="1250" b="0" dirty="0">
              <a:solidFill>
                <a:srgbClr val="AAAAAF"/>
              </a:solidFill>
              <a:latin typeface="Pretendard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CBE1DF-FAEB-4088-AB7C-147916A177B8}"/>
              </a:ext>
            </a:extLst>
          </p:cNvPr>
          <p:cNvSpPr txBox="1"/>
          <p:nvPr/>
        </p:nvSpPr>
        <p:spPr>
          <a:xfrm>
            <a:off x="4663440" y="2389191"/>
            <a:ext cx="1354858" cy="4770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ko-KR" altLang="en-US" sz="125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개인정보를 노리는</a:t>
            </a:r>
            <a:br>
              <a:rPr lang="ko-KR" altLang="en-US" sz="125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25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대상과 위험성</a:t>
            </a:r>
            <a:endParaRPr sz="1250" b="0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640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80467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5F5"/>
                </a:solidFill>
                <a:latin typeface="Pretendard"/>
              </a:rPr>
              <a:t>WORK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875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AAAF"/>
                </a:solidFill>
                <a:latin typeface="Pretendard"/>
              </a:rPr>
              <a:t>2026.10.06 — 2026.10.08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972800" cy="13716"/>
          </a:xfrm>
          <a:prstGeom prst="rect">
            <a:avLst/>
          </a:prstGeom>
          <a:solidFill>
            <a:srgbClr val="37373D"/>
          </a:solidFill>
          <a:ln>
            <a:solidFill>
              <a:srgbClr val="37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10.06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3246120" cy="457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246120" cy="23317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54864" cy="23317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788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Figma 디자인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27248"/>
            <a:ext cx="2788920" cy="13715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전체 화면 디자인
Header / Footer
MAIN /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10.07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057400"/>
            <a:ext cx="3246120" cy="457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26280" y="2377440"/>
            <a:ext cx="3246120" cy="23317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2377440"/>
            <a:ext cx="54864" cy="23317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2606040"/>
            <a:ext cx="2788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CASE / TIP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127248"/>
            <a:ext cx="2788920" cy="13715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개인정보 노출 사례
보호 방법 콘텐츠
페이지 스타일 통일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60020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10.08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057400"/>
            <a:ext cx="3246120" cy="457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21040" y="2377440"/>
            <a:ext cx="3246120" cy="23317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40" y="2377440"/>
            <a:ext cx="54864" cy="23317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9640" y="2606040"/>
            <a:ext cx="2788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CAMPAIGN / 배포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127248"/>
            <a:ext cx="2788920" cy="13715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CAMPAIGN 제작
최종 수정
GitHub Pages 배포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640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80467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5F5"/>
                </a:solidFill>
                <a:latin typeface="Pretendard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875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AAAF"/>
                </a:solidFill>
                <a:latin typeface="Pretendard"/>
              </a:rPr>
              <a:t>디자인을 실제 웹페이지로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972800" cy="13716"/>
          </a:xfrm>
          <a:prstGeom prst="rect">
            <a:avLst/>
          </a:prstGeom>
          <a:solidFill>
            <a:srgbClr val="37373D"/>
          </a:solidFill>
          <a:ln>
            <a:solidFill>
              <a:srgbClr val="37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29000" cy="34747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54864" cy="34747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2971800" cy="2514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페이지의 기본 구조를 설계
Header / Main / Content / Footer 등
각 페이지의 콘텐츠 영역을 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29000" cy="34747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54864" cy="34747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04288"/>
            <a:ext cx="2971800" cy="2514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Figma 디자인을 실제 화면에 적용
색상 / 폰트 / 간격 / 레이아웃 구현
페이지별 디자인 통일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429000" cy="34747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554480"/>
            <a:ext cx="54864" cy="3474720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Pretendard"/>
              </a:rP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04288"/>
            <a:ext cx="2971800" cy="2514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AAAAF"/>
                </a:solidFill>
                <a:latin typeface="Pretendard"/>
              </a:rPr>
              <a:t>사용자 참여형 콘텐츠 구현
테스트 진행 및 결과 처리
페이지 내 인터랙션 구현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640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80467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5F5"/>
                </a:solidFill>
                <a:latin typeface="Pretendard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875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AAAF"/>
                </a:solidFill>
                <a:latin typeface="Pretendard"/>
              </a:rPr>
              <a:t>정보를 읽는 것에서 직접 확인하는 경험으로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972800" cy="13716"/>
          </a:xfrm>
          <a:prstGeom prst="rect">
            <a:avLst/>
          </a:prstGeom>
          <a:solidFill>
            <a:srgbClr val="37373D"/>
          </a:solidFill>
          <a:ln>
            <a:solidFill>
              <a:srgbClr val="37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640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DC2337"/>
                </a:solidFill>
                <a:latin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00200"/>
            <a:ext cx="1828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Pretendard"/>
              </a:rPr>
              <a:t>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384048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AAAAAF"/>
                </a:solidFill>
                <a:latin typeface="Pretendard"/>
              </a:rPr>
              <a:t>INFO THIEF의 콘셉트와
캠페인 메시지를 처음 전달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640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DC2337"/>
                </a:solidFill>
                <a:latin typeface="Pretendar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1180131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altLang="ko-KR" sz="2300" b="1" dirty="0">
                <a:solidFill>
                  <a:srgbClr val="F5F5F5"/>
                </a:solidFill>
                <a:latin typeface="Pretendard"/>
              </a:rPr>
              <a:t>ABOUT</a:t>
            </a:r>
            <a:endParaRPr sz="2300" b="1" dirty="0">
              <a:solidFill>
                <a:srgbClr val="F5F5F5"/>
              </a:solidFill>
              <a:latin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8760" y="3794760"/>
            <a:ext cx="2249334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AAAAAF"/>
                </a:solidFill>
                <a:latin typeface="Pretendard"/>
              </a:rPr>
              <a:t>개인정보를 노리는 대상과</a:t>
            </a:r>
          </a:p>
          <a:p>
            <a:pPr algn="l"/>
            <a:r>
              <a:rPr lang="ko-KR" altLang="en-US" sz="1400" b="0" dirty="0">
                <a:solidFill>
                  <a:srgbClr val="AAAAAF"/>
                </a:solidFill>
                <a:latin typeface="Pretendard"/>
              </a:rPr>
              <a:t>위험성을 소개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640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DC2337"/>
                </a:solidFill>
                <a:latin typeface="Pretendar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846320"/>
            <a:ext cx="1172116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2300" b="1" dirty="0">
                <a:solidFill>
                  <a:srgbClr val="F5F5F5"/>
                </a:solidFill>
                <a:latin typeface="Pretendard"/>
              </a:rPr>
              <a:t>CHECK</a:t>
            </a:r>
            <a:endParaRPr sz="2300" b="1" dirty="0">
              <a:solidFill>
                <a:srgbClr val="F5F5F5"/>
              </a:solidFill>
              <a:latin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08760" y="5440680"/>
            <a:ext cx="2653290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AAAAAF"/>
                </a:solidFill>
                <a:latin typeface="Pretendard"/>
              </a:rPr>
              <a:t>사용자가 개인정보 보호 습관을</a:t>
            </a:r>
            <a:endParaRPr lang="en-US" altLang="ko-KR" sz="1400" b="0" dirty="0">
              <a:solidFill>
                <a:srgbClr val="AAAAAF"/>
              </a:solidFill>
              <a:latin typeface="Pretendard"/>
            </a:endParaRPr>
          </a:p>
          <a:p>
            <a:pPr algn="l"/>
            <a:r>
              <a:rPr lang="ko-KR" altLang="en-US" sz="1400" dirty="0">
                <a:solidFill>
                  <a:srgbClr val="AAAAAF"/>
                </a:solidFill>
                <a:latin typeface="Pretendard"/>
              </a:rPr>
              <a:t>직접 확인 할 수 있도록 구성</a:t>
            </a:r>
            <a:endParaRPr sz="1400" b="0" dirty="0">
              <a:solidFill>
                <a:srgbClr val="AAAAAF"/>
              </a:solidFill>
              <a:latin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63125" y="1645920"/>
            <a:ext cx="640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DC2337"/>
                </a:solidFill>
                <a:latin typeface="Pretendar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925" y="1600200"/>
            <a:ext cx="1281120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2300" b="1" dirty="0">
                <a:solidFill>
                  <a:srgbClr val="F5F5F5"/>
                </a:solidFill>
                <a:latin typeface="Pretendard"/>
              </a:rPr>
              <a:t>RESULT</a:t>
            </a:r>
            <a:endParaRPr sz="2300" b="1" dirty="0">
              <a:solidFill>
                <a:srgbClr val="F5F5F5"/>
              </a:solidFill>
              <a:latin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48925" y="2194560"/>
            <a:ext cx="2069797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AAAAAF"/>
                </a:solidFill>
                <a:latin typeface="Pretendard"/>
              </a:rPr>
              <a:t>개인정보 보호 테스트의</a:t>
            </a:r>
            <a:endParaRPr lang="en-US" altLang="ko-KR" sz="1400" b="0" dirty="0">
              <a:solidFill>
                <a:srgbClr val="AAAAAF"/>
              </a:solidFill>
              <a:latin typeface="Pretendard"/>
            </a:endParaRPr>
          </a:p>
          <a:p>
            <a:pPr algn="l"/>
            <a:r>
              <a:rPr lang="ko-KR" altLang="en-US" sz="1400" dirty="0">
                <a:solidFill>
                  <a:srgbClr val="AAAAAF"/>
                </a:solidFill>
                <a:latin typeface="Pretendard"/>
              </a:rPr>
              <a:t>결과를 확인</a:t>
            </a:r>
            <a:endParaRPr sz="1400" b="0" dirty="0">
              <a:solidFill>
                <a:srgbClr val="AAAAAF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AC1708-C932-4A56-B7B3-90F99ABF1E9C}"/>
              </a:ext>
            </a:extLst>
          </p:cNvPr>
          <p:cNvSpPr txBox="1"/>
          <p:nvPr/>
        </p:nvSpPr>
        <p:spPr>
          <a:xfrm>
            <a:off x="4563125" y="3154680"/>
            <a:ext cx="418704" cy="3231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 dirty="0">
                <a:solidFill>
                  <a:srgbClr val="DC2337"/>
                </a:solidFill>
                <a:latin typeface="Pretendard"/>
              </a:rPr>
              <a:t>0</a:t>
            </a:r>
            <a:r>
              <a:rPr lang="en-US" sz="1500" b="1" dirty="0">
                <a:solidFill>
                  <a:srgbClr val="DC2337"/>
                </a:solidFill>
                <a:latin typeface="Pretendard"/>
              </a:rPr>
              <a:t>5</a:t>
            </a:r>
            <a:endParaRPr sz="1500" b="1" dirty="0">
              <a:solidFill>
                <a:srgbClr val="DC2337"/>
              </a:solidFill>
              <a:latin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8E6E43-6278-4C6A-9411-AFA89A5C25F6}"/>
              </a:ext>
            </a:extLst>
          </p:cNvPr>
          <p:cNvSpPr txBox="1"/>
          <p:nvPr/>
        </p:nvSpPr>
        <p:spPr>
          <a:xfrm>
            <a:off x="5248925" y="3108960"/>
            <a:ext cx="941283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2300" b="1" dirty="0">
                <a:solidFill>
                  <a:srgbClr val="F5F5F5"/>
                </a:solidFill>
                <a:latin typeface="Pretendard"/>
              </a:rPr>
              <a:t>CASE</a:t>
            </a:r>
            <a:endParaRPr sz="2300" b="1" dirty="0">
              <a:solidFill>
                <a:srgbClr val="F5F5F5"/>
              </a:solidFill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7457F0-4366-471A-91EE-D5B57C05F7D1}"/>
              </a:ext>
            </a:extLst>
          </p:cNvPr>
          <p:cNvSpPr txBox="1"/>
          <p:nvPr/>
        </p:nvSpPr>
        <p:spPr>
          <a:xfrm>
            <a:off x="5248925" y="3703320"/>
            <a:ext cx="2294218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AAAAAF"/>
                </a:solidFill>
                <a:latin typeface="Pretendard"/>
              </a:rPr>
              <a:t>일상에서 발생할 수 있는</a:t>
            </a:r>
            <a:endParaRPr lang="en-US" altLang="ko-KR" sz="1400" dirty="0">
              <a:solidFill>
                <a:srgbClr val="AAAAAF"/>
              </a:solidFill>
              <a:latin typeface="Pretendard"/>
            </a:endParaRPr>
          </a:p>
          <a:p>
            <a:pPr algn="l"/>
            <a:r>
              <a:rPr lang="ko-KR" altLang="en-US" sz="1400" b="0" dirty="0">
                <a:solidFill>
                  <a:srgbClr val="AAAAAF"/>
                </a:solidFill>
                <a:latin typeface="Pretendard"/>
              </a:rPr>
              <a:t>개인정보 노출 상황을 제시</a:t>
            </a:r>
            <a:endParaRPr sz="1400" b="0" dirty="0">
              <a:solidFill>
                <a:srgbClr val="AAAAAF"/>
              </a:solidFill>
              <a:latin typeface="Pretendar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1A196B-DC96-4EDC-9405-7C5F0B86DAF4}"/>
              </a:ext>
            </a:extLst>
          </p:cNvPr>
          <p:cNvSpPr txBox="1"/>
          <p:nvPr/>
        </p:nvSpPr>
        <p:spPr>
          <a:xfrm>
            <a:off x="4589757" y="4892040"/>
            <a:ext cx="421910" cy="3231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 dirty="0">
                <a:solidFill>
                  <a:srgbClr val="DC2337"/>
                </a:solidFill>
                <a:latin typeface="Pretendard"/>
              </a:rPr>
              <a:t>0</a:t>
            </a:r>
            <a:r>
              <a:rPr lang="en-US" sz="1500" b="1" dirty="0">
                <a:solidFill>
                  <a:srgbClr val="DC2337"/>
                </a:solidFill>
                <a:latin typeface="Pretendard"/>
              </a:rPr>
              <a:t>6</a:t>
            </a:r>
            <a:endParaRPr sz="1500" b="1" dirty="0">
              <a:solidFill>
                <a:srgbClr val="DC2337"/>
              </a:solidFill>
              <a:latin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D983DD-8368-4512-97DA-7CDDBC5A729C}"/>
              </a:ext>
            </a:extLst>
          </p:cNvPr>
          <p:cNvSpPr txBox="1"/>
          <p:nvPr/>
        </p:nvSpPr>
        <p:spPr>
          <a:xfrm>
            <a:off x="5275557" y="4846320"/>
            <a:ext cx="627095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2300" b="1" dirty="0">
                <a:solidFill>
                  <a:srgbClr val="F5F5F5"/>
                </a:solidFill>
                <a:latin typeface="Pretendard"/>
              </a:rPr>
              <a:t>TIP</a:t>
            </a:r>
            <a:endParaRPr sz="2300" b="1" dirty="0">
              <a:solidFill>
                <a:srgbClr val="F5F5F5"/>
              </a:solidFill>
              <a:latin typeface="Pretendar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8892CA-3706-4B61-BF3C-6D3ACEC66977}"/>
              </a:ext>
            </a:extLst>
          </p:cNvPr>
          <p:cNvSpPr txBox="1"/>
          <p:nvPr/>
        </p:nvSpPr>
        <p:spPr>
          <a:xfrm>
            <a:off x="5275557" y="5440680"/>
            <a:ext cx="3012363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AAAAAF"/>
                </a:solidFill>
                <a:latin typeface="Pretendard"/>
              </a:rPr>
              <a:t>개인정보를 안전하게 보호하기 위한</a:t>
            </a:r>
            <a:endParaRPr lang="en-US" altLang="ko-KR" sz="1400" b="0" dirty="0">
              <a:solidFill>
                <a:srgbClr val="AAAAAF"/>
              </a:solidFill>
              <a:latin typeface="Pretendard"/>
            </a:endParaRPr>
          </a:p>
          <a:p>
            <a:pPr algn="l"/>
            <a:r>
              <a:rPr lang="ko-KR" altLang="en-US" sz="1400" b="0" dirty="0">
                <a:solidFill>
                  <a:srgbClr val="AAAAAF"/>
                </a:solidFill>
                <a:latin typeface="Pretendard"/>
              </a:rPr>
              <a:t>실천 방법을 안내</a:t>
            </a:r>
            <a:endParaRPr sz="1400" b="0" dirty="0">
              <a:solidFill>
                <a:srgbClr val="AAAAAF"/>
              </a:solidFill>
              <a:latin typeface="Pretendar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03805E-F4FC-4E53-8EA5-56C8474E4A42}"/>
              </a:ext>
            </a:extLst>
          </p:cNvPr>
          <p:cNvSpPr txBox="1"/>
          <p:nvPr/>
        </p:nvSpPr>
        <p:spPr>
          <a:xfrm>
            <a:off x="7868997" y="1645920"/>
            <a:ext cx="421910" cy="3231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 dirty="0">
                <a:solidFill>
                  <a:srgbClr val="DC2337"/>
                </a:solidFill>
                <a:latin typeface="Pretendard"/>
              </a:rPr>
              <a:t>0</a:t>
            </a:r>
            <a:r>
              <a:rPr lang="en-US" sz="1500" b="1" dirty="0">
                <a:solidFill>
                  <a:srgbClr val="DC2337"/>
                </a:solidFill>
                <a:latin typeface="Pretendard"/>
              </a:rPr>
              <a:t>6</a:t>
            </a:r>
            <a:endParaRPr sz="1500" b="1" dirty="0">
              <a:solidFill>
                <a:srgbClr val="DC2337"/>
              </a:solidFill>
              <a:latin typeface="Pretendar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8850E5-AD2A-47AD-A117-C27616EC03F7}"/>
              </a:ext>
            </a:extLst>
          </p:cNvPr>
          <p:cNvSpPr txBox="1"/>
          <p:nvPr/>
        </p:nvSpPr>
        <p:spPr>
          <a:xfrm>
            <a:off x="8554797" y="1600200"/>
            <a:ext cx="1721946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2300" b="1" dirty="0">
                <a:solidFill>
                  <a:srgbClr val="F5F5F5"/>
                </a:solidFill>
                <a:latin typeface="Pretendard"/>
              </a:rPr>
              <a:t>CAMPAIGN</a:t>
            </a:r>
            <a:endParaRPr sz="2300" b="1" dirty="0">
              <a:solidFill>
                <a:srgbClr val="F5F5F5"/>
              </a:solidFill>
              <a:latin typeface="Pretendar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768CA5-CBF2-43D3-9A21-A80CD43F12C5}"/>
              </a:ext>
            </a:extLst>
          </p:cNvPr>
          <p:cNvSpPr txBox="1"/>
          <p:nvPr/>
        </p:nvSpPr>
        <p:spPr>
          <a:xfrm>
            <a:off x="8554797" y="2194560"/>
            <a:ext cx="1890261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AAAAAF"/>
                </a:solidFill>
                <a:latin typeface="Pretendard"/>
              </a:rPr>
              <a:t>개인정보 보호 캠페인</a:t>
            </a:r>
            <a:endParaRPr lang="en-US" altLang="ko-KR" sz="1400" dirty="0">
              <a:solidFill>
                <a:srgbClr val="AAAAAF"/>
              </a:solidFill>
              <a:latin typeface="Pretendard"/>
            </a:endParaRPr>
          </a:p>
          <a:p>
            <a:pPr algn="l"/>
            <a:r>
              <a:rPr lang="ko-KR" altLang="en-US" sz="1400" b="0" dirty="0">
                <a:solidFill>
                  <a:srgbClr val="AAAAAF"/>
                </a:solidFill>
                <a:latin typeface="Pretendard"/>
              </a:rPr>
              <a:t>콘텐트를 소개</a:t>
            </a:r>
            <a:endParaRPr sz="1400" b="0" dirty="0">
              <a:solidFill>
                <a:srgbClr val="AAAAA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640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80467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5F5"/>
                </a:solidFill>
                <a:latin typeface="Pretendard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875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AAAF"/>
                </a:solidFill>
                <a:latin typeface="Pretendard"/>
              </a:rPr>
              <a:t>GitHub를 이용한 프로젝트 배포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0972800" cy="13716"/>
          </a:xfrm>
          <a:prstGeom prst="rect">
            <a:avLst/>
          </a:prstGeom>
          <a:solidFill>
            <a:srgbClr val="37373D"/>
          </a:solidFill>
          <a:ln>
            <a:solidFill>
              <a:srgbClr val="37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AAAAAF"/>
                </a:solidFill>
                <a:latin typeface="Pretendard"/>
              </a:rPr>
              <a:t>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21945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F5F5F5"/>
                </a:solidFill>
                <a:latin typeface="Pretendard"/>
              </a:rPr>
              <a:t>HTML / CSS / 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331720"/>
            <a:ext cx="64008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DC2337"/>
                </a:solidFill>
                <a:latin typeface="Pretendard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920240"/>
            <a:ext cx="1280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AAAAAF"/>
                </a:solidFill>
                <a:latin typeface="Pretendard"/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23160"/>
            <a:ext cx="19202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F5F5F5"/>
                </a:solidFill>
                <a:latin typeface="Pretendard"/>
              </a:rPr>
              <a:t>코드 업로드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64008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DC2337"/>
                </a:solidFill>
                <a:latin typeface="Pretendard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920240"/>
            <a:ext cx="2011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AAAAAF"/>
                </a:solidFill>
                <a:latin typeface="Pretendard"/>
              </a:rPr>
              <a:t>GITHUB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423160"/>
            <a:ext cx="21945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F5F5F5"/>
                </a:solidFill>
                <a:latin typeface="Pretendard"/>
              </a:rPr>
              <a:t>웹사이트 배포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03320"/>
            <a:ext cx="9875520" cy="91440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913632"/>
            <a:ext cx="1371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최종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886200"/>
            <a:ext cx="7772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Pretendard"/>
              </a:rPr>
              <a:t>페이지 연결 · 디자인 · 기능 · 배포 상태를 확인하고 최종 수정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731520"/>
            <a:ext cx="2743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C2337"/>
                </a:solidFill>
                <a:latin typeface="Pretendard"/>
              </a:rPr>
              <a:t>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6217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Pretendard"/>
              </a:rPr>
              <a:t>기획부터 배포까지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5943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Pretendard"/>
              </a:rPr>
              <a:t>개인정보 보호라는 주제를
웹사이트로 직접 구현해보았다.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8961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AAAAAF"/>
                </a:solidFill>
                <a:latin typeface="Pretendard"/>
              </a:rPr>
              <a:t>Figma 디자인 → HTML/CSS 구현 → JavaScript 인터랙션 → GitHub 배포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892040"/>
            <a:ext cx="2743200" cy="54864"/>
          </a:xfrm>
          <a:prstGeom prst="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Pretendard"/>
              </a:rPr>
              <a:t>INFO THIEF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212080"/>
            <a:ext cx="2103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600" b="1">
                <a:solidFill>
                  <a:srgbClr val="DC2337"/>
                </a:solidFill>
                <a:latin typeface="Pretendar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487</Words>
  <Application>Microsoft Office PowerPoint</Application>
  <PresentationFormat>와이드스크린</PresentationFormat>
  <Paragraphs>136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d2coding</vt:lpstr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406-11</cp:lastModifiedBy>
  <cp:revision>5</cp:revision>
  <dcterms:created xsi:type="dcterms:W3CDTF">2013-01-27T09:14:16Z</dcterms:created>
  <dcterms:modified xsi:type="dcterms:W3CDTF">2026-10-08T08:38:37Z</dcterms:modified>
  <cp:category/>
</cp:coreProperties>
</file>